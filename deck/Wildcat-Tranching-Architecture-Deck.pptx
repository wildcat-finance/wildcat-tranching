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8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WILDCAT  ·  IN-HOUSE TRANCHING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
</a:t>
            </a:r>
            <a:pPr indent="0" marL="0">
              <a:lnSpc>
                <a:spcPct val="103000"/>
              </a:lnSpc>
              <a:buNone/>
            </a:pPr>
            <a:r>
              <a:rPr lang="en-US" sz="4200" b="1" dirty="0">
                <a:solidFill>
                  <a:srgbClr val="D98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Overview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41605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C9B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senior / junior credit-tranche vault layered on the Wildcat v-wmtUSDC market wrapper: its contracts, how it attaches, the design decisions, and the properties it guarantees.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9875520" y="224028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D98412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0" y="224028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75520" y="2916936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221C14"/>
          </a:solidFill>
          <a:ln w="12700">
            <a:solidFill>
              <a:srgbClr val="4A40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0" y="291693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B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0" y="35295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first-loss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6126480"/>
            <a:ext cx="11091672" cy="0"/>
          </a:xfrm>
          <a:prstGeom prst="line">
            <a:avLst/>
          </a:prstGeom>
          <a:noFill/>
          <a:ln w="12700">
            <a:solidFill>
              <a:srgbClr val="3A33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Ethereum mainnet</a:t>
            </a:r>
            <a:pPr indent="0" marL="0">
              <a:buNone/>
            </a:pPr>
            <a:r>
              <a:rPr lang="en-US" sz="1100" dirty="0">
                <a:solidFill>
                  <a:srgbClr val="8A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Full rationale in the Design &amp; Risk Specification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97112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8A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GLANCE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13509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993392"/>
            <a:ext cx="18672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+ Junior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2697480"/>
            <a:ext cx="18672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STACK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818181" y="1783080"/>
            <a:ext cx="2013509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91333" y="1993392"/>
            <a:ext cx="18672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 ≥ 20%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91333" y="2697480"/>
            <a:ext cx="18672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FIRST-LOSS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87722" y="1783080"/>
            <a:ext cx="2013509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60874" y="1993392"/>
            <a:ext cx="18672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4×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60874" y="2697480"/>
            <a:ext cx="18672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LEVERAGE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357262" y="1783080"/>
            <a:ext cx="2013509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30414" y="1993392"/>
            <a:ext cx="18672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 + 90d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30414" y="2697480"/>
            <a:ext cx="18672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(ToU §6.2)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626803" y="1783080"/>
            <a:ext cx="2013509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99955" y="1993392"/>
            <a:ext cx="186720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realised-only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99955" y="2697480"/>
            <a:ext cx="18672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11091672" cy="2194560"/>
          </a:xfrm>
          <a:prstGeom prst="roundRect">
            <a:avLst>
              <a:gd name="adj" fmla="val 2917"/>
            </a:avLst>
          </a:prstGeom>
          <a:solidFill>
            <a:srgbClr val="FBF8F2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3749040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in one line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4069080"/>
            <a:ext cx="10451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Wildcat facility, split on the lender side into a senior priority tranche and a junior first-loss tranche.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pays the senior target first and the residual to junior; losses hit junior to zero before senior is touched. Valuation is realised-only and oracle-free, redemption is asynchronous and senior-first, and default mirrors the Wildcat Terms of Use on-chain. The borrower sees a single unitranche facility throughout.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Wildcat</a:t>
            </a:r>
            <a:pPr indent="0" marL="0">
              <a:buNone/>
            </a:pPr>
            <a:r>
              <a:rPr lang="en-US" sz="800" spc="5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In-House Tranching: Architecture &amp; Design Overview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89711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34847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Contract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30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WaterfallMath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Pure tranche math: senior accrual, value/loss split, subordination, ToU default trigger.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30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TrancheController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Immutable orchestrator: deposits, async redemption queue, default/wind-down, subordination gating, per-user sanctions + escrow. Reentrancy-guarded; safe transfers.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30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senior / junior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sr-wmtUSDC / jr-wmtUSDC: Solady ERC20 + EIP-2612 permit with an ERC-4626 value-view surface. Senior open to KYC'd lenders; junior whitelisted.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30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TrancheFactory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at the WildcatArchController; one tranche set per registered market, gated on isRegisteredMarket.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30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IExternal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Interfaces to the Wildcat 4626 wrapper, market (state + withdrawal queue), sentinel, and arch controller.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Wildcat</a:t>
            </a:r>
            <a:pPr indent="0" marL="0">
              <a:buNone/>
            </a:pPr>
            <a:r>
              <a:rPr lang="en-US" sz="800" spc="5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In-House Tranching: Architecture &amp; Design Overview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89711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ATTACHES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vault on top of an unchanged market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7220" y="1920240"/>
            <a:ext cx="239572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FC6B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8660" y="2157984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049524" y="2491740"/>
            <a:ext cx="384048" cy="0"/>
          </a:xfrm>
          <a:prstGeom prst="line">
            <a:avLst/>
          </a:prstGeom>
          <a:noFill/>
          <a:ln w="28575">
            <a:solidFill>
              <a:srgbClr val="B4670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70148" y="1920240"/>
            <a:ext cx="239572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FC6B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1588" y="2157984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Wildcat market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561588" y="252374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67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wmtUSDC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02452" y="2491740"/>
            <a:ext cx="384048" cy="0"/>
          </a:xfrm>
          <a:prstGeom prst="line">
            <a:avLst/>
          </a:prstGeom>
          <a:noFill/>
          <a:ln w="28575">
            <a:solidFill>
              <a:srgbClr val="B4670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23076" y="1920240"/>
            <a:ext cx="2395728" cy="1143000"/>
          </a:xfrm>
          <a:prstGeom prst="roundRect">
            <a:avLst>
              <a:gd name="adj" fmla="val 6400"/>
            </a:avLst>
          </a:prstGeom>
          <a:solidFill>
            <a:srgbClr val="FBF8F2"/>
          </a:solidFill>
          <a:ln w="12700">
            <a:solidFill>
              <a:srgbClr val="CFC6B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14516" y="2157984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ERC-4626 wrapper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14516" y="252374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67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v-wmtUSDC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755380" y="2491740"/>
            <a:ext cx="384048" cy="0"/>
          </a:xfrm>
          <a:prstGeom prst="line">
            <a:avLst/>
          </a:prstGeom>
          <a:noFill/>
          <a:ln w="28575">
            <a:solidFill>
              <a:srgbClr val="B4670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76004" y="1920240"/>
            <a:ext cx="2395728" cy="1143000"/>
          </a:xfrm>
          <a:prstGeom prst="roundRect">
            <a:avLst>
              <a:gd name="adj" fmla="val 6400"/>
            </a:avLst>
          </a:prstGeom>
          <a:solidFill>
            <a:srgbClr val="16130F"/>
          </a:solidFill>
          <a:ln w="12700">
            <a:solidFill>
              <a:srgbClr val="16130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67444" y="2157984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TrancheController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267444" y="2523744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8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holds + waterfall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373868" y="3063240"/>
            <a:ext cx="0" cy="365760"/>
          </a:xfrm>
          <a:prstGeom prst="line">
            <a:avLst/>
          </a:prstGeom>
          <a:noFill/>
          <a:ln w="25400">
            <a:solidFill>
              <a:srgbClr val="B4670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84564" y="3429000"/>
            <a:ext cx="1152144" cy="502920"/>
          </a:xfrm>
          <a:prstGeom prst="roundRect">
            <a:avLst>
              <a:gd name="adj" fmla="val 10909"/>
            </a:avLst>
          </a:prstGeom>
          <a:solidFill>
            <a:srgbClr val="D98412"/>
          </a:solidFill>
          <a:ln/>
        </p:spPr>
      </p:sp>
      <p:sp>
        <p:nvSpPr>
          <p:cNvPr id="20" name="Text 18"/>
          <p:cNvSpPr/>
          <p:nvPr/>
        </p:nvSpPr>
        <p:spPr>
          <a:xfrm>
            <a:off x="9084564" y="342900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sr-wmtUSDC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373868" y="3429000"/>
            <a:ext cx="1152144" cy="502920"/>
          </a:xfrm>
          <a:prstGeom prst="roundRect">
            <a:avLst>
              <a:gd name="adj" fmla="val 10909"/>
            </a:avLst>
          </a:prstGeom>
          <a:solidFill>
            <a:srgbClr val="221C14"/>
          </a:solidFill>
          <a:ln w="12700">
            <a:solidFill>
              <a:srgbClr val="4A40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73868" y="342900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D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jr-wmtUSDC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09167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8680" y="4681728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Deployment: 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467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TrancheFactory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registered at the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467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WildcatArchController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(protocol level) and deploys one senior/junior set per registered market, gated on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467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isRegisteredMarket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Tranching is a lender-side vault on top of an unchanged market.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Wildcat</a:t>
            </a:r>
            <a:pPr indent="0" marL="0">
              <a:buNone/>
            </a:pPr>
            <a:r>
              <a:rPr lang="en-US" sz="800" spc="5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In-House Tranching: Architecture &amp; Design Overview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89711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2956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20240"/>
            <a:ext cx="4777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 &amp; RISK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2304288"/>
            <a:ext cx="137160" cy="137160"/>
          </a:xfrm>
          <a:prstGeom prst="ellipse">
            <a:avLst/>
          </a:prstGeom>
          <a:solidFill>
            <a:srgbClr val="B4670D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30428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78992" y="2231136"/>
            <a:ext cx="4539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Senior: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claim at a rate derived from the facility APR (a governance-set share of it, capped at the APR); not a guarantee.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41248" y="3108960"/>
            <a:ext cx="137160" cy="137160"/>
          </a:xfrm>
          <a:prstGeom prst="ellipse">
            <a:avLst/>
          </a:prstGeom>
          <a:solidFill>
            <a:srgbClr val="B4670D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10896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78992" y="3035808"/>
            <a:ext cx="4539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Junior: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leveraged first-loss residual: earns the excess spread, absorbs losses to zero before senior.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1248" y="3913632"/>
            <a:ext cx="137160" cy="137160"/>
          </a:xfrm>
          <a:prstGeom prst="ellipse">
            <a:avLst/>
          </a:prstGeom>
          <a:solidFill>
            <a:srgbClr val="B4670D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91363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8992" y="3840480"/>
            <a:ext cx="4539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Subordination: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floor (junior ≥ 20% of TVL, senior ≤ 4×) gating senior deposits &amp; junior exits.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41248" y="4718304"/>
            <a:ext cx="137160" cy="137160"/>
          </a:xfrm>
          <a:prstGeom prst="ellipse">
            <a:avLst/>
          </a:prstGeom>
          <a:solidFill>
            <a:srgbClr val="B4670D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71830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8992" y="4645152"/>
            <a:ext cx="4539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Valuation: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realised-only, oracle-free; NAV frozen at a high-watermark while delinquent.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77356" y="1691640"/>
            <a:ext cx="5362956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69964" y="1920240"/>
            <a:ext cx="4777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MECHANICS &amp; CONTROLS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69964" y="2304288"/>
            <a:ext cx="137160" cy="137160"/>
          </a:xfrm>
          <a:prstGeom prst="ellipse">
            <a:avLst/>
          </a:prstGeom>
          <a:solidFill>
            <a:srgbClr val="16130F"/>
          </a:solidFill>
          <a:ln/>
        </p:spPr>
      </p:sp>
      <p:sp>
        <p:nvSpPr>
          <p:cNvPr id="21" name="Text 19"/>
          <p:cNvSpPr/>
          <p:nvPr/>
        </p:nvSpPr>
        <p:spPr>
          <a:xfrm>
            <a:off x="6569964" y="2304288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07708" y="2231136"/>
            <a:ext cx="4539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Redemption: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asynchronous, mirroring the market's batched queue; partial proceeds senior-first.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69964" y="3108960"/>
            <a:ext cx="137160" cy="137160"/>
          </a:xfrm>
          <a:prstGeom prst="ellipse">
            <a:avLst/>
          </a:prstGeom>
          <a:solidFill>
            <a:srgbClr val="16130F"/>
          </a:solidFill>
          <a:ln/>
        </p:spPr>
      </p:sp>
      <p:sp>
        <p:nvSpPr>
          <p:cNvPr id="24" name="Text 22"/>
          <p:cNvSpPr/>
          <p:nvPr/>
        </p:nvSpPr>
        <p:spPr>
          <a:xfrm>
            <a:off x="6569964" y="3108960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07708" y="3035808"/>
            <a:ext cx="4539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 §6.2 mirror (grace + 90d), per-market configurable + Loan-Agreement override; senior-first wind-down.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69964" y="3913632"/>
            <a:ext cx="137160" cy="137160"/>
          </a:xfrm>
          <a:prstGeom prst="ellipse">
            <a:avLst/>
          </a:prstGeom>
          <a:solidFill>
            <a:srgbClr val="16130F"/>
          </a:solidFill>
          <a:ln/>
        </p:spPr>
      </p:sp>
      <p:sp>
        <p:nvSpPr>
          <p:cNvPr id="27" name="Text 25"/>
          <p:cNvSpPr/>
          <p:nvPr/>
        </p:nvSpPr>
        <p:spPr>
          <a:xfrm>
            <a:off x="6569964" y="3913632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07708" y="3840480"/>
            <a:ext cx="4539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Governance: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logic + bounded, timelocked params; pause halts deposits only, never senior exits.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69964" y="4718304"/>
            <a:ext cx="137160" cy="137160"/>
          </a:xfrm>
          <a:prstGeom prst="ellipse">
            <a:avLst/>
          </a:prstGeom>
          <a:solidFill>
            <a:srgbClr val="16130F"/>
          </a:solidFill>
          <a:ln/>
        </p:spPr>
      </p:sp>
      <p:sp>
        <p:nvSpPr>
          <p:cNvPr id="30" name="Text 28"/>
          <p:cNvSpPr/>
          <p:nvPr/>
        </p:nvSpPr>
        <p:spPr>
          <a:xfrm>
            <a:off x="6569964" y="4718304"/>
            <a:ext cx="137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07708" y="4645152"/>
            <a:ext cx="4539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Compliance: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sentinel (sanctioned redemptions → escrow); junior restricted to qualified providers.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Wildcat</a:t>
            </a:r>
            <a:pPr indent="0" marL="0">
              <a:buNone/>
            </a:pPr>
            <a:r>
              <a:rPr lang="en-US" sz="800" spc="5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In-House Tranching: Architecture &amp; Design Overview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89711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 &amp; verification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1234440"/>
          </a:xfrm>
          <a:prstGeom prst="roundRect">
            <a:avLst>
              <a:gd name="adj" fmla="val 5185"/>
            </a:avLst>
          </a:prstGeom>
          <a:solidFill>
            <a:srgbClr val="FBF8F2"/>
          </a:solidFill>
          <a:ln w="12700">
            <a:solidFill>
              <a:srgbClr val="CFC6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01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1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seniorValue + juniorValue == realisedValue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at all times  ·  junior floors at zero before senior is impaired (first-loss)  ·  senior is paid before junior on every settlement (priority).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3264408"/>
            <a:ext cx="146304" cy="146304"/>
          </a:xfrm>
          <a:prstGeom prst="ellipse">
            <a:avLst/>
          </a:prstGeom>
          <a:solidFill>
            <a:srgbClr val="2F6F4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32644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0392" y="320040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Solady's audited ERC20, ReentrancyGuard and SafeTransferLib; share conversions round in favour of the pool.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922776"/>
            <a:ext cx="146304" cy="146304"/>
          </a:xfrm>
          <a:prstGeom prst="ellipse">
            <a:avLst/>
          </a:prstGeom>
          <a:solidFill>
            <a:srgbClr val="2F6F4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92277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50392" y="3858768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 by a Foundry suite: unit / behaviour, property fuzz, and stateful-invariant tests.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4581144"/>
            <a:ext cx="146304" cy="146304"/>
          </a:xfrm>
          <a:prstGeom prst="ellipse">
            <a:avLst/>
          </a:prstGeom>
          <a:solidFill>
            <a:srgbClr val="2F6F4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58114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50392" y="4517136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Mainnet-fork tests exercise deposit, valuation and a full redemption round-trip against the live v-wmtUSDC facility and its withdrawal queue.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1091672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5440680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audited; independent review focuses on credit-loss / redemption edge cases, the redemption-array gas/DoS profile at scale, and ERC-4626 conformance of the view surface.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Wildcat</a:t>
            </a:r>
            <a:pPr indent="0" marL="0">
              <a:buNone/>
            </a:pPr>
            <a:r>
              <a:rPr lang="en-US" sz="800" spc="5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In-House Tranching: Architecture &amp; Design Overview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89711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8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&amp; junior, </a:t>
            </a:r>
            <a:pPr indent="0" marL="0">
              <a:buNone/>
            </a:pPr>
            <a:r>
              <a:rPr lang="en-US" sz="4200" b="1" dirty="0">
                <a:solidFill>
                  <a:srgbClr val="D98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347472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D8C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conservative, oracle-free, first-loss credit-tranche vault over the Wildcat v-wmtUSDC facility: senior priority with a 20% junior cushion, realised-only valuation, async senior-first redemption, and an on-chain mirror of the facility's own default terms.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126480"/>
            <a:ext cx="11091672" cy="0"/>
          </a:xfrm>
          <a:prstGeom prst="line">
            <a:avLst/>
          </a:prstGeom>
          <a:noFill/>
          <a:ln w="12700">
            <a:solidFill>
              <a:srgbClr val="3A33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B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Wildcat</a:t>
            </a:r>
            <a:pPr indent="0" marL="0">
              <a:buNone/>
            </a:pPr>
            <a:r>
              <a:rPr lang="en-US" sz="1100" dirty="0">
                <a:solidFill>
                  <a:srgbClr val="8A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In-House Tranching: Architecture &amp; Design Overview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97112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8A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In-House Tranching: Architecture &amp; Design Overview</dc:title>
  <dc:subject>PptxGenJS Presentation</dc:subject>
  <dc:creator>Wildcat</dc:creator>
  <cp:lastModifiedBy>Wildcat</cp:lastModifiedBy>
  <cp:revision>1</cp:revision>
  <dcterms:created xsi:type="dcterms:W3CDTF">2026-06-27T14:17:46Z</dcterms:created>
  <dcterms:modified xsi:type="dcterms:W3CDTF">2026-06-27T14:17:46Z</dcterms:modified>
</cp:coreProperties>
</file>