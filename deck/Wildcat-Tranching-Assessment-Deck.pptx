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8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WILDCAT  ·  STRATEGY &amp; ENGINEERING ASSESSMENT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196596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Tranching </a:t>
            </a:r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D98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In-House</a:t>
            </a:r>
            <a:pPr indent="0" marL="0">
              <a:lnSpc>
                <a:spcPct val="102000"/>
              </a:lnSpc>
              <a:buNone/>
            </a:pP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Partnering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411480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C9B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would take Wildcat to ship its own senior / junior tranching layer covering the common ground of Strata, Royco Dawn and Pareto, and whether it should.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784080" y="2057400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D98412"/>
          </a:solidFill>
          <a:ln/>
        </p:spPr>
      </p:sp>
      <p:sp>
        <p:nvSpPr>
          <p:cNvPr id="6" name="Text 4"/>
          <p:cNvSpPr/>
          <p:nvPr/>
        </p:nvSpPr>
        <p:spPr>
          <a:xfrm>
            <a:off x="9784080" y="20574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784080" y="2734056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221C14"/>
          </a:solidFill>
          <a:ln w="12700">
            <a:solidFill>
              <a:srgbClr val="4A403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0" y="273405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9B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MEZZ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784080" y="3410712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221C14"/>
          </a:solidFill>
          <a:ln w="12700">
            <a:solidFill>
              <a:srgbClr val="4A40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0" y="341071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9B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78408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8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first-loss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6126480"/>
            <a:ext cx="11091672" cy="0"/>
          </a:xfrm>
          <a:prstGeom prst="line">
            <a:avLst/>
          </a:prstGeom>
          <a:noFill/>
          <a:ln w="12700">
            <a:solidFill>
              <a:srgbClr val="3A332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June 2026</a:t>
            </a:r>
            <a:pPr indent="0" marL="0">
              <a:buNone/>
            </a:pPr>
            <a:r>
              <a:rPr lang="en-US" sz="1100" dirty="0">
                <a:solidFill>
                  <a:srgbClr val="8A8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Ethereum mainnet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897112" y="6263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8A8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10896" cy="310896"/>
          </a:xfrm>
          <a:prstGeom prst="ellipse">
            <a:avLst/>
          </a:prstGeom>
          <a:solidFill>
            <a:srgbClr val="B4670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9264" y="420624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1091672" cy="1783080"/>
          </a:xfrm>
          <a:prstGeom prst="roundRect">
            <a:avLst>
              <a:gd name="adj" fmla="val 3590"/>
            </a:avLst>
          </a:prstGeom>
          <a:solidFill>
            <a:srgbClr val="FBF8F2"/>
          </a:solidFill>
          <a:ln w="12700">
            <a:solidFill>
              <a:srgbClr val="E4DDD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2984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46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572768"/>
            <a:ext cx="10451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in-house MVP covering the common ground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(two share classes over a Wildcat market, a yield waterfall with senior priority + floor and junior residual + risk premium, a junior-first loss waterfall, per-tranche NAV, a coverage ratio, async redemptions through Wildcat’s withdrawal queue, plus a factory + roles) runs about </a:t>
            </a:r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B46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 engineer-months of build + a ~$80–150k audit, ≈ 3.5–5 months calendar with two strong Solidity engineers.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2567178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4DDD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3310128"/>
            <a:ext cx="2384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B46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658368" y="3950208"/>
            <a:ext cx="23477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ENGINEER-MONTHS BUILD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90138" y="3154680"/>
            <a:ext cx="2567178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4DDD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81578" y="3310128"/>
            <a:ext cx="2384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B46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3.5–5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3499866" y="3950208"/>
            <a:ext cx="23477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CALENDAR · 2 ENGS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31636" y="3154680"/>
            <a:ext cx="2567178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4DDD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23076" y="3310128"/>
            <a:ext cx="2384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B46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$80–150k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6341364" y="3950208"/>
            <a:ext cx="23477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AUDIT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073134" y="3154680"/>
            <a:ext cx="2567178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4DDD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64574" y="3310128"/>
            <a:ext cx="23842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B46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~1–2k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9182862" y="3950208"/>
            <a:ext cx="23477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NOVEL CODE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DD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4754880"/>
            <a:ext cx="10451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feature parity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Strata / Royco (adaptive yield-split curves, depeg handling, isolated liquidity routing, fixed-term recovery, Pendle) adds 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B46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+3–5 months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almost none of it is needed for the Wintermute facility. The novel, security-critical logic is only ~600–2,000 lines in every one of these protocols.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Wildcat</a:t>
            </a:r>
            <a:pPr algn="l" indent="0" marL="0">
              <a:buNone/>
            </a:pPr>
            <a:r>
              <a:rPr lang="en-US" sz="800" spc="50" kern="0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In-House Tranching Effort Assessment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897112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6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BRIEF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reference protocols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83864" cy="338328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12700">
            <a:solidFill>
              <a:srgbClr val="E4DDD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249424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3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contracts-tranches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2935224" cy="0"/>
          </a:xfrm>
          <a:prstGeom prst="line">
            <a:avLst/>
          </a:prstGeom>
          <a:noFill/>
          <a:ln w="12700">
            <a:solidFill>
              <a:srgbClr val="E4DD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43200"/>
            <a:ext cx="2935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CDO-style risk-tranching over any ERC4626. Three accounting engines, cooldown silos, isolated dual-strategy routing.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4480560"/>
            <a:ext cx="2935224" cy="292608"/>
          </a:xfrm>
          <a:prstGeom prst="roundRect">
            <a:avLst>
              <a:gd name="adj" fmla="val 50000"/>
            </a:avLst>
          </a:prstGeom>
          <a:solidFill>
            <a:srgbClr val="2F6F4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480560"/>
            <a:ext cx="2935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TRANCHING · FULL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352544" y="1554480"/>
            <a:ext cx="3483864" cy="338328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12700">
            <a:solidFill>
              <a:srgbClr val="E4DDD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26864" y="1828800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Royco Dawn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26864" y="2249424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3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royco-dawn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26864" y="2606040"/>
            <a:ext cx="2935224" cy="0"/>
          </a:xfrm>
          <a:prstGeom prst="line">
            <a:avLst/>
          </a:prstGeom>
          <a:noFill/>
          <a:ln w="12700">
            <a:solidFill>
              <a:srgbClr val="E4DD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2743200"/>
            <a:ext cx="2935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From-scratch senior/junior engine, NOT the order-matching “Royco Markets.” Dual-NAV, IL recovery, fixed-term state machine, self-liquidation.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26864" y="4480560"/>
            <a:ext cx="2935224" cy="292608"/>
          </a:xfrm>
          <a:prstGeom prst="roundRect">
            <a:avLst>
              <a:gd name="adj" fmla="val 50000"/>
            </a:avLst>
          </a:prstGeom>
          <a:solidFill>
            <a:srgbClr val="2F6F4F"/>
          </a:solidFill>
          <a:ln/>
        </p:spPr>
      </p:sp>
      <p:sp>
        <p:nvSpPr>
          <p:cNvPr id="17" name="Text 15"/>
          <p:cNvSpPr/>
          <p:nvPr/>
        </p:nvSpPr>
        <p:spPr>
          <a:xfrm>
            <a:off x="4626864" y="4480560"/>
            <a:ext cx="2935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TRANCHING · MOST ADVANCED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156448" y="1554480"/>
            <a:ext cx="3483864" cy="338328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12700">
            <a:solidFill>
              <a:srgbClr val="E4DDD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30768" y="1828800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430768" y="2249424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3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430768" y="2606040"/>
            <a:ext cx="2935224" cy="0"/>
          </a:xfrm>
          <a:prstGeom prst="line">
            <a:avLst/>
          </a:prstGeom>
          <a:noFill/>
          <a:ln w="12700">
            <a:solidFill>
              <a:srgbClr val="E4DD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30768" y="2743200"/>
            <a:ext cx="2935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synthetic dollar (USP) + first-loss staking (sUSP) that BUYS the senior (AA) tranche of external Idle credit vaults. It only consumes tranching.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430768" y="4480560"/>
            <a:ext cx="2935224" cy="292608"/>
          </a:xfrm>
          <a:prstGeom prst="roundRect">
            <a:avLst>
              <a:gd name="adj" fmla="val 50000"/>
            </a:avLst>
          </a:prstGeom>
          <a:solidFill>
            <a:srgbClr val="9A3412"/>
          </a:solidFill>
          <a:ln/>
        </p:spPr>
      </p:sp>
      <p:sp>
        <p:nvSpPr>
          <p:cNvPr id="24" name="Text 22"/>
          <p:cNvSpPr/>
          <p:nvPr/>
        </p:nvSpPr>
        <p:spPr>
          <a:xfrm>
            <a:off x="8430768" y="4480560"/>
            <a:ext cx="2935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NOT IN REPO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5166360"/>
            <a:ext cx="11091672" cy="713232"/>
          </a:xfrm>
          <a:prstGeom prst="roundRect">
            <a:avLst>
              <a:gd name="adj" fmla="val 8974"/>
            </a:avLst>
          </a:prstGeom>
          <a:solidFill>
            <a:srgbClr val="FBF8F2"/>
          </a:solidFill>
          <a:ln w="12700">
            <a:solidFill>
              <a:srgbClr val="E4DDD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8680" y="5248656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“what all three do” really means “what Strata and Royco do natively.”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Pareto’s AA/BB tranche engine lives in Idle’s contracts, not in this repo.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Wildcat</a:t>
            </a:r>
            <a:pPr algn="l" indent="0" marL="0">
              <a:buNone/>
            </a:pPr>
            <a:r>
              <a:rPr lang="en-US" sz="800" spc="50" kern="0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In-House Tranching Effort Assessment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897112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6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WHAT’S LIVE ON-CHAIN TODAY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Wintermute facility, end to end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65760" y="1965960"/>
            <a:ext cx="24871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FC6B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16712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asset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907792" y="2651760"/>
            <a:ext cx="393192" cy="0"/>
          </a:xfrm>
          <a:prstGeom prst="line">
            <a:avLst/>
          </a:prstGeom>
          <a:noFill/>
          <a:ln w="28575">
            <a:solidFill>
              <a:srgbClr val="B4670D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355848" y="1965960"/>
            <a:ext cx="24871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FC6B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47288" y="216712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Wildcat market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47288" y="2542032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67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wmtUSDC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47288" y="2862072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rebasing credit token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897880" y="2651760"/>
            <a:ext cx="393192" cy="0"/>
          </a:xfrm>
          <a:prstGeom prst="line">
            <a:avLst/>
          </a:prstGeom>
          <a:noFill/>
          <a:ln w="28575">
            <a:solidFill>
              <a:srgbClr val="B4670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345936" y="1965960"/>
            <a:ext cx="2487168" cy="1371600"/>
          </a:xfrm>
          <a:prstGeom prst="roundRect">
            <a:avLst>
              <a:gd name="adj" fmla="val 5333"/>
            </a:avLst>
          </a:prstGeom>
          <a:solidFill>
            <a:srgbClr val="FBF8F2"/>
          </a:solidFill>
          <a:ln w="12700">
            <a:solidFill>
              <a:srgbClr val="CFC6B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37376" y="216712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ERC-4626 wrapper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37376" y="2542032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67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v-wmtUSDC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37376" y="2862072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Wildcat’s own · non-rebasing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887968" y="2651760"/>
            <a:ext cx="393192" cy="0"/>
          </a:xfrm>
          <a:prstGeom prst="line">
            <a:avLst/>
          </a:prstGeom>
          <a:noFill/>
          <a:ln w="28575">
            <a:solidFill>
              <a:srgbClr val="B4670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336024" y="1965960"/>
            <a:ext cx="2487168" cy="1371600"/>
          </a:xfrm>
          <a:prstGeom prst="roundRect">
            <a:avLst>
              <a:gd name="adj" fmla="val 5333"/>
            </a:avLst>
          </a:prstGeom>
          <a:solidFill>
            <a:srgbClr val="16130F"/>
          </a:solidFill>
          <a:ln w="12700">
            <a:solidFill>
              <a:srgbClr val="16130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427464" y="216712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Strata tranches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427464" y="2542032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98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sr- / jr-wmtUSDC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427464" y="2862072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9BF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/ junior split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794760"/>
            <a:ext cx="11091672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4DDD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4023360"/>
            <a:ext cx="310896" cy="310896"/>
          </a:xfrm>
          <a:prstGeom prst="ellipse">
            <a:avLst/>
          </a:prstGeom>
          <a:solidFill>
            <a:srgbClr val="B4670D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023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61872" y="4023360"/>
            <a:ext cx="10085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check: confirm the target market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61872" y="4370832"/>
            <a:ext cx="10040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v-wmtUSDC (</a:t>
            </a:r>
            <a:pPr indent="0" marL="0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B467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0xf654…</a:t>
            </a:r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is Wildcat’s own 4626 wrapper, not a Strata contract. It wraps </a:t>
            </a:r>
            <a:pPr indent="0" marL="0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B467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0xC949…</a:t>
            </a:r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“Wintermute Trading USD Coin” (~$69.65M, 8.5% APR), a </a:t>
            </a:r>
            <a:pPr indent="0" marL="0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market</a:t>
            </a:r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the </a:t>
            </a:r>
            <a:pPr indent="0" marL="0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B467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0x50ebdf…</a:t>
            </a:r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(~$2.23M). Strata’s split is lender-side only; the borrower still sees a single unitranche facility.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54406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Tranching attaches as a separate vault on top of an unchanged market; it is not a protocol fork.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Wildcat</a:t>
            </a:r>
            <a:pPr algn="l" indent="0" marL="0">
              <a:buNone/>
            </a:pPr>
            <a:r>
              <a:rPr lang="en-US" sz="800" spc="50" kern="0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In-House Tranching Effort Assessment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897112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6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INTERSECTION YOU’D REBUILD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common ground: eight primitives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91056"/>
            <a:ext cx="365760" cy="365760"/>
          </a:xfrm>
          <a:prstGeom prst="ellipse">
            <a:avLst/>
          </a:prstGeom>
          <a:solidFill>
            <a:srgbClr val="B4670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91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60704" y="1536192"/>
            <a:ext cx="4805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share classes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60704" y="1810512"/>
            <a:ext cx="4805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+ junior over one ERC4626 underlying.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23076" y="1591056"/>
            <a:ext cx="365760" cy="365760"/>
          </a:xfrm>
          <a:prstGeom prst="ellipse">
            <a:avLst/>
          </a:prstGeom>
          <a:solidFill>
            <a:srgbClr val="B4670D"/>
          </a:solidFill>
          <a:ln/>
        </p:spPr>
      </p:sp>
      <p:sp>
        <p:nvSpPr>
          <p:cNvPr id="9" name="Text 7"/>
          <p:cNvSpPr/>
          <p:nvPr/>
        </p:nvSpPr>
        <p:spPr>
          <a:xfrm>
            <a:off x="6323076" y="1591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35140" y="1536192"/>
            <a:ext cx="4805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 waterfall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835140" y="1810512"/>
            <a:ext cx="4805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priority + floor; junior residual + risk premium.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432304"/>
            <a:ext cx="365760" cy="365760"/>
          </a:xfrm>
          <a:prstGeom prst="ellipse">
            <a:avLst/>
          </a:prstGeom>
          <a:solidFill>
            <a:srgbClr val="B4670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60704" y="2377440"/>
            <a:ext cx="4805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waterfall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60704" y="2651760"/>
            <a:ext cx="4805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Junior first-loss; cascades junior → reserve → senior.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23076" y="2432304"/>
            <a:ext cx="365760" cy="365760"/>
          </a:xfrm>
          <a:prstGeom prst="ellipse">
            <a:avLst/>
          </a:prstGeom>
          <a:solidFill>
            <a:srgbClr val="B4670D"/>
          </a:solidFill>
          <a:ln/>
        </p:spPr>
      </p:sp>
      <p:sp>
        <p:nvSpPr>
          <p:cNvPr id="17" name="Text 15"/>
          <p:cNvSpPr/>
          <p:nvPr/>
        </p:nvSpPr>
        <p:spPr>
          <a:xfrm>
            <a:off x="6323076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35140" y="2377440"/>
            <a:ext cx="4805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Per-tranche NAV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835140" y="2651760"/>
            <a:ext cx="4805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Marked off the underlying, re-synced each interaction.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273552"/>
            <a:ext cx="365760" cy="365760"/>
          </a:xfrm>
          <a:prstGeom prst="ellipse">
            <a:avLst/>
          </a:prstGeom>
          <a:solidFill>
            <a:srgbClr val="B4670D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273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60704" y="3218688"/>
            <a:ext cx="4805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ratio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60704" y="3493008"/>
            <a:ext cx="4805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 senior leverage; gates deposits/exits near the floor.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23076" y="3273552"/>
            <a:ext cx="365760" cy="365760"/>
          </a:xfrm>
          <a:prstGeom prst="ellipse">
            <a:avLst/>
          </a:prstGeom>
          <a:solidFill>
            <a:srgbClr val="B4670D"/>
          </a:solidFill>
          <a:ln/>
        </p:spPr>
      </p:sp>
      <p:sp>
        <p:nvSpPr>
          <p:cNvPr id="25" name="Text 23"/>
          <p:cNvSpPr/>
          <p:nvPr/>
        </p:nvSpPr>
        <p:spPr>
          <a:xfrm>
            <a:off x="6323076" y="3273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35140" y="3218688"/>
            <a:ext cx="4805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redemption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835140" y="3493008"/>
            <a:ext cx="4805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Cooldown silos or a request → execute queue.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114800"/>
            <a:ext cx="365760" cy="365760"/>
          </a:xfrm>
          <a:prstGeom prst="ellipse">
            <a:avLst/>
          </a:prstGeom>
          <a:solidFill>
            <a:srgbClr val="B4670D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60704" y="4059936"/>
            <a:ext cx="4805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060704" y="4334256"/>
            <a:ext cx="4805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senior rate, pauses, manages reserve &amp; shortfall.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323076" y="4114800"/>
            <a:ext cx="365760" cy="365760"/>
          </a:xfrm>
          <a:prstGeom prst="ellipse">
            <a:avLst/>
          </a:prstGeom>
          <a:solidFill>
            <a:srgbClr val="B4670D"/>
          </a:solidFill>
          <a:ln/>
        </p:spPr>
      </p:sp>
      <p:sp>
        <p:nvSpPr>
          <p:cNvPr id="33" name="Text 31"/>
          <p:cNvSpPr/>
          <p:nvPr/>
        </p:nvSpPr>
        <p:spPr>
          <a:xfrm>
            <a:off x="6323076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35140" y="4059936"/>
            <a:ext cx="4805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835140" y="4334256"/>
            <a:ext cx="48051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Deploys a tranche set per underlying.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5120640"/>
            <a:ext cx="11091672" cy="749808"/>
          </a:xfrm>
          <a:prstGeom prst="roundRect">
            <a:avLst>
              <a:gd name="adj" fmla="val 8537"/>
            </a:avLst>
          </a:prstGeom>
          <a:solidFill>
            <a:srgbClr val="FBF8F2"/>
          </a:solidFill>
          <a:ln w="12700">
            <a:solidFill>
              <a:srgbClr val="E4DDD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68680" y="5221224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this line is differentiation, not common ground: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Royco’s fixed-term recovery, IL tracking, self-liquidation; Strata’s adaptive curve, depeg oracle, isolated liquidity routing.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Wildcat</a:t>
            </a:r>
            <a:pPr algn="l" indent="0" marL="0">
              <a:buNone/>
            </a:pPr>
            <a:r>
              <a:rPr lang="en-US" sz="800" spc="50" kern="0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In-House Tranching Effort Assessment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897112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6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POSITION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You’re not starting from zero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211336" cy="4297680"/>
          </a:xfrm>
          <a:prstGeom prst="roundRect">
            <a:avLst>
              <a:gd name="adj" fmla="val 1489"/>
            </a:avLst>
          </a:prstGeom>
          <a:solidFill>
            <a:srgbClr val="FFFFFF"/>
          </a:solidFill>
          <a:ln w="12700">
            <a:solidFill>
              <a:srgbClr val="E4DDD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5571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46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DIRECTLY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8680" y="2176272"/>
            <a:ext cx="146304" cy="146304"/>
          </a:xfrm>
          <a:prstGeom prst="ellipse">
            <a:avLst/>
          </a:prstGeom>
          <a:solidFill>
            <a:srgbClr val="B4670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7627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5568" y="2093976"/>
            <a:ext cx="534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Wildcat4626Wrapper: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deployed v-wmtUSDC; solves rebasing→non-rebasing + sanctions. ~80% of one tranche’s plumbing.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68680" y="2798064"/>
            <a:ext cx="146304" cy="146304"/>
          </a:xfrm>
          <a:prstGeom prst="ellipse">
            <a:avLst/>
          </a:prstGeom>
          <a:solidFill>
            <a:srgbClr val="B4670D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79806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15568" y="2715768"/>
            <a:ext cx="534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scaleFactor() accrual oracle: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 accrues monotonically, easier than diffing a noisy 4626 share price.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3419856"/>
            <a:ext cx="146304" cy="146304"/>
          </a:xfrm>
          <a:prstGeom prst="ellipse">
            <a:avLst/>
          </a:prstGeom>
          <a:solidFill>
            <a:srgbClr val="B4670D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41985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15568" y="3337560"/>
            <a:ext cx="534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+ infra: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ray/bip math, SafeCast, FIFOQueue, Solady ERC20/4626/permit bases.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68680" y="4041648"/>
            <a:ext cx="146304" cy="146304"/>
          </a:xfrm>
          <a:prstGeom prst="ellipse">
            <a:avLst/>
          </a:prstGeom>
          <a:solidFill>
            <a:srgbClr val="B4670D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04164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15568" y="3959352"/>
            <a:ext cx="534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pattern: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permissionless, arch-gated, one-per-market; copy for a TrancheVaultFactory.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8680" y="4663440"/>
            <a:ext cx="146304" cy="146304"/>
          </a:xfrm>
          <a:prstGeom prst="ellipse">
            <a:avLst/>
          </a:prstGeom>
          <a:solidFill>
            <a:srgbClr val="B4670D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6634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15568" y="4581144"/>
            <a:ext cx="534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Sanctions sentinel: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pattern to re-enforce at the vault layer.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68680" y="5285232"/>
            <a:ext cx="146304" cy="146304"/>
          </a:xfrm>
          <a:prstGeom prst="ellipse">
            <a:avLst/>
          </a:prstGeom>
          <a:solidFill>
            <a:srgbClr val="B4670D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28523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15568" y="5202936"/>
            <a:ext cx="534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+ audit rigor: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invariant tests, fuzzing, a16z 4626 suite, external audits.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125736" y="1554480"/>
            <a:ext cx="4514576" cy="4297680"/>
          </a:xfrm>
          <a:prstGeom prst="roundRect">
            <a:avLst>
              <a:gd name="adj" fmla="val 1489"/>
            </a:avLst>
          </a:prstGeom>
          <a:solidFill>
            <a:srgbClr val="16130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18344" y="1810512"/>
            <a:ext cx="392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D98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ARCHITECTURAL SEAM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18344" y="2194560"/>
            <a:ext cx="392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Tranching can’t live in hooks.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418344" y="2971800"/>
            <a:ext cx="3929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D8C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are reactive: they can revert and tweak APR/reserve, but cannot route funds or hold dual-class accounting.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D8C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tranche logic must be a separate vault that holds the market token and issues senior / junior shares. Hooks can only assist, e.g. gate who may deposit.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Wildcat</a:t>
            </a:r>
            <a:pPr algn="l" indent="0" marL="0">
              <a:buNone/>
            </a:pPr>
            <a:r>
              <a:rPr lang="en-US" sz="800" spc="50" kern="0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In-House Tranching Effort Assessment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897112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6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MONTHS ACTUALLY GO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Wildcat-specific hard parts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83864" cy="406908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4DDD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384048" cy="384048"/>
          </a:xfrm>
          <a:prstGeom prst="ellipse">
            <a:avLst/>
          </a:prstGeom>
          <a:solidFill>
            <a:srgbClr val="B4670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325880" y="1920240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B4670D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192024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UNKNOWN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Credit-loss ≠ mark-to-market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22960" y="3200400"/>
            <a:ext cx="2935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others detect loss as a falling 4626 price. Wildcat’s loss is lumpy: delinquency (principal intact) vs default/closure shortfall. You must define the impairment trigger and recovery socialization before any junior write-down can be coded.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5074920"/>
            <a:ext cx="2935224" cy="0"/>
          </a:xfrm>
          <a:prstGeom prst="line">
            <a:avLst/>
          </a:prstGeom>
          <a:noFill/>
          <a:ln w="12700">
            <a:solidFill>
              <a:srgbClr val="E4DD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138928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i="1" dirty="0">
                <a:solidFill>
                  <a:srgbClr val="B46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+ legal, not code.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52544" y="1600200"/>
            <a:ext cx="3483864" cy="406908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4DDD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26864" y="1874520"/>
            <a:ext cx="384048" cy="384048"/>
          </a:xfrm>
          <a:prstGeom prst="ellipse">
            <a:avLst/>
          </a:prstGeom>
          <a:solidFill>
            <a:srgbClr val="16130F"/>
          </a:solidFill>
          <a:ln/>
        </p:spPr>
      </p:sp>
      <p:sp>
        <p:nvSpPr>
          <p:cNvPr id="15" name="Text 13"/>
          <p:cNvSpPr/>
          <p:nvPr/>
        </p:nvSpPr>
        <p:spPr>
          <a:xfrm>
            <a:off x="4626864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129784" y="1920240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3A352E"/>
          </a:solidFill>
          <a:ln/>
        </p:spPr>
      </p:sp>
      <p:sp>
        <p:nvSpPr>
          <p:cNvPr id="17" name="Text 15"/>
          <p:cNvSpPr/>
          <p:nvPr/>
        </p:nvSpPr>
        <p:spPr>
          <a:xfrm>
            <a:off x="5129784" y="192024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BIGGEST NET-NEW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26864" y="246888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Redemptions through the queue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626864" y="3200400"/>
            <a:ext cx="2935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Wildcat exits are batched, expiry-dated, FIFO, pro-rata and time-delayed. The vault must queue → wait → execute, then allocate the partial, delayed proceeds senior-first per the waterfall.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26864" y="5074920"/>
            <a:ext cx="2935224" cy="0"/>
          </a:xfrm>
          <a:prstGeom prst="line">
            <a:avLst/>
          </a:prstGeom>
          <a:noFill/>
          <a:ln w="12700">
            <a:solidFill>
              <a:srgbClr val="E4DD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6864" y="5138928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i="1" dirty="0">
                <a:solidFill>
                  <a:srgbClr val="B46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template exists in any of the three.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56448" y="1600200"/>
            <a:ext cx="3483864" cy="406908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4DDD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430768" y="1874520"/>
            <a:ext cx="384048" cy="384048"/>
          </a:xfrm>
          <a:prstGeom prst="ellipse">
            <a:avLst/>
          </a:prstGeom>
          <a:solidFill>
            <a:srgbClr val="16130F"/>
          </a:solidFill>
          <a:ln/>
        </p:spPr>
      </p:sp>
      <p:sp>
        <p:nvSpPr>
          <p:cNvPr id="24" name="Text 22"/>
          <p:cNvSpPr/>
          <p:nvPr/>
        </p:nvSpPr>
        <p:spPr>
          <a:xfrm>
            <a:off x="8430768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933688" y="1920240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3A352E"/>
          </a:solidFill>
          <a:ln/>
        </p:spPr>
      </p:sp>
      <p:sp>
        <p:nvSpPr>
          <p:cNvPr id="26" name="Text 24"/>
          <p:cNvSpPr/>
          <p:nvPr/>
        </p:nvSpPr>
        <p:spPr>
          <a:xfrm>
            <a:off x="8933688" y="192024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7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WILDCAT-SPECIFIC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430768" y="246888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Per-user KYC at the vault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430768" y="3200400"/>
            <a:ext cx="2935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 lenders hides individuals from the market, which only sees the vault. Credentials and sanctions must be re-enforced inside the vault on every entry and share transfer.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430768" y="5074920"/>
            <a:ext cx="2935224" cy="0"/>
          </a:xfrm>
          <a:prstGeom prst="line">
            <a:avLst/>
          </a:prstGeom>
          <a:noFill/>
          <a:ln w="12700">
            <a:solidFill>
              <a:srgbClr val="E4DD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30768" y="5138928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i="1" dirty="0">
                <a:solidFill>
                  <a:srgbClr val="B46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4626 wrapper shows the pattern.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Wildcat</a:t>
            </a:r>
            <a:pPr algn="l" indent="0" marL="0">
              <a:buNone/>
            </a:pPr>
            <a:r>
              <a:rPr lang="en-US" sz="800" spc="50" kern="0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In-House Tranching Effort Assessment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897112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6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NUMBER, PHASED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estimate</a:t>
            </a:r>
            <a:endParaRPr lang="en-US" sz="2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5879592"/>
                <a:gridCol w="1554480"/>
                <a:gridCol w="15087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30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Scope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30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New Solidity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30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Calendar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30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3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 Design &amp; risk spec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 model, redemption allocation, coupon-vs-delinquency, param bounds. The real work.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spec, not code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3–5 wks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3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MVP core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tranche tokens; both waterfalls; coverage gating; NAV off scaleFactor; redemption orchestration; factory; roles; pause.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~3.5–5k LOC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6–10 wks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3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Hardening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Invariant + fuzz to your bar, a16z 4626 suite, default / partial-fill edges, vault-layer KYC.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folded 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4–6 wks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3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Audit + fixes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External audit + remediation.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4–8 wks (+$80–150k)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3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MVP TOTAL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3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Common ground, audited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467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~4–6 eng-months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B467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~3.5–5 months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4C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3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Advanced (optional)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Adaptive curve, depeg oracle, isolated routing, fixed-term recovery, Pendle.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+3–6k LOC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35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+3–5 months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6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623560"/>
            <a:ext cx="11091672" cy="658368"/>
          </a:xfrm>
          <a:prstGeom prst="roundRect">
            <a:avLst>
              <a:gd name="adj" fmla="val 9722"/>
            </a:avLst>
          </a:prstGeom>
          <a:solidFill>
            <a:srgbClr val="FBF8F2"/>
          </a:solidFill>
          <a:ln w="12700">
            <a:solidFill>
              <a:srgbClr val="E4DDD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5705856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faster, given the IP is ~1–2k LOC?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is dominated by the loss-model design, the template-less redemption integration, and audit, not line count.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Wildcat</a:t>
            </a:r>
            <a:pPr algn="l" indent="0" marL="0">
              <a:buNone/>
            </a:pPr>
            <a:r>
              <a:rPr lang="en-US" sz="800" spc="50" kern="0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In-House Tranching Effort Assessment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897112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6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vs. partner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83864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DDD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(Strata)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2935224" cy="0"/>
          </a:xfrm>
          <a:prstGeom prst="line">
            <a:avLst/>
          </a:prstGeom>
          <a:noFill/>
          <a:ln w="12700">
            <a:solidFill>
              <a:srgbClr val="E4DD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95728"/>
            <a:ext cx="2935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Tranches live in weeks, ~zero Wildcat engineering. Strata brings NAV accounting, waterfalls, yield distribution and enforced mint/redeem; you bring the market + joint UI.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revenue share · external trust surface · less control over UX &amp; roadmap.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52544" y="1554480"/>
            <a:ext cx="3483864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DDD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26864" y="1828800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67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in-house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26864" y="2286000"/>
            <a:ext cx="2935224" cy="0"/>
          </a:xfrm>
          <a:prstGeom prst="line">
            <a:avLst/>
          </a:prstGeom>
          <a:noFill/>
          <a:ln w="12700">
            <a:solidFill>
              <a:srgbClr val="E4DD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2395728"/>
            <a:ext cx="2935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control, no revenue share, native UX, and a factory that makes it reusable across every Wildcat market.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26864" y="397764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the quarter-plus opposite · owning audit + maintenance · owning the credit-loss-model risk.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56448" y="1554480"/>
            <a:ext cx="3483864" cy="3200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DDD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30768" y="1828800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Pragmatic middle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430768" y="2286000"/>
            <a:ext cx="2935224" cy="0"/>
          </a:xfrm>
          <a:prstGeom prst="line">
            <a:avLst/>
          </a:prstGeom>
          <a:noFill/>
          <a:ln w="12700">
            <a:solidFill>
              <a:srgbClr val="E4DD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0768" y="2395728"/>
            <a:ext cx="293522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now to ship Wintermute and learn real demand, while running the cheap Phase 0 in parallel.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30768" y="3977640"/>
            <a:ext cx="2935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 de-risks the whole build; decide on Phase 1 once the loss model &amp; redemption design are settled.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16130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5138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98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539496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Strata facility now; fund Phase 0 in parallel. It de-risks the entire build for a few weeks of one engineer’s time.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3A3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Wildcat</a:t>
            </a:r>
            <a:pPr algn="l" indent="0" marL="0">
              <a:buNone/>
            </a:pPr>
            <a:r>
              <a:rPr lang="en-US" sz="800" spc="50" kern="0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In-House Tranching Effort Assessment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897112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B63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3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8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CHEAPEST NEXT STEP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</a:t>
            </a:r>
            <a:pPr indent="0" marL="0">
              <a:buNone/>
            </a:pPr>
            <a:r>
              <a:rPr lang="en-US" sz="4400" b="1" dirty="0">
                <a:solidFill>
                  <a:srgbClr val="D984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9692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D8CE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3–5 week design spec (impairment trigger, recovery socialization, and the redemption-allocation algorithm) settles the only real unknowns and lets Wildcat commit to build-or-buy with eyes open.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6126480"/>
            <a:ext cx="11091672" cy="0"/>
          </a:xfrm>
          <a:prstGeom prst="line">
            <a:avLst/>
          </a:prstGeom>
          <a:noFill/>
          <a:ln w="12700">
            <a:solidFill>
              <a:srgbClr val="3A33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263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B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Wildcat</a:t>
            </a:r>
            <a:pPr indent="0" marL="0">
              <a:buNone/>
            </a:pPr>
            <a:r>
              <a:rPr lang="en-US" sz="1100" dirty="0">
                <a:solidFill>
                  <a:srgbClr val="8A8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In-House Tranching Effort Assessment  ·  27 June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897112" y="6263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150" kern="0" dirty="0">
                <a:solidFill>
                  <a:srgbClr val="8A81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In-House Tranching: Effort Assessment</dc:title>
  <dc:subject>PptxGenJS Presentation</dc:subject>
  <dc:creator>Wildcat</dc:creator>
  <cp:lastModifiedBy>Wildcat</cp:lastModifiedBy>
  <cp:revision>1</cp:revision>
  <dcterms:created xsi:type="dcterms:W3CDTF">2026-06-27T13:45:29Z</dcterms:created>
  <dcterms:modified xsi:type="dcterms:W3CDTF">2026-06-27T13:45:29Z</dcterms:modified>
</cp:coreProperties>
</file>